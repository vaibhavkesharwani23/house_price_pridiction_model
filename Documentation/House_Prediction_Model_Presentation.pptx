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1B6B45">
              <a:alpha val="2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1B6B45">
              <a:alpha val="2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548640" y="457200"/>
            <a:ext cx="1371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dirty="0">
                <a:solidFill>
                  <a:srgbClr val="000000"/>
                </a:solidFill>
              </a:rPr>
              <a:t>🏠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HOUSE PREDICTION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9770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MODEL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2560320" cy="36576"/>
          </a:xfrm>
          <a:prstGeom prst="rect">
            <a:avLst/>
          </a:prstGeom>
          <a:solidFill>
            <a:srgbClr val="1B6B45"/>
          </a:solidFill>
        </p:spPr>
      </p:sp>
      <p:sp>
        <p:nvSpPr>
          <p:cNvPr id="8" name="Text 6"/>
          <p:cNvSpPr/>
          <p:nvPr/>
        </p:nvSpPr>
        <p:spPr>
          <a:xfrm>
            <a:off x="548640" y="3429000"/>
            <a:ext cx="7772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EB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 Project  |  Indian Real Estate Market  |  Streamlit Deployment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8046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CB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🇮🇳  Mumbai · Delhi NCR · Bangalore · Pune · Hyderabad · Chennai · Kolkata · Ahmedabad · Jaipur · Lucknow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7772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BAF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by: [VAIBHAV KESHARWANI |  [Institution :- UCER]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3D2E"/>
          </a:solidFill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743200" cy="33832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71600"/>
            <a:ext cx="2560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Market Complexity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2606040"/>
            <a:ext cx="246888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Indian property prices vary drastically across cities, localities, and amenities, making manual valuation inconsistent.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234440"/>
            <a:ext cx="2743200" cy="33832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371600"/>
            <a:ext cx="2560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⏱️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37560" y="210312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Time-Consuming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606040"/>
            <a:ext cx="246888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Traditional appraisals take days. Buyers, sellers, and brokers need instant, data-driven price estimates.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234440"/>
            <a:ext cx="2743200" cy="33832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371600"/>
            <a:ext cx="2560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09360" y="210312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Financial Risk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2606040"/>
            <a:ext cx="246888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Mispriced properties cause real losses for home-buyers, sellers, builders, and home-loan lenders.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663440"/>
            <a:ext cx="8595360" cy="365760"/>
          </a:xfrm>
          <a:prstGeom prst="roundRect">
            <a:avLst>
              <a:gd name="adj" fmla="val 15000"/>
            </a:avLst>
          </a:prstGeom>
          <a:solidFill>
            <a:srgbClr val="1B6B45"/>
          </a:solidFill>
        </p:spPr>
      </p:sp>
      <p:sp>
        <p:nvSpPr>
          <p:cNvPr id="17" name="Text 15"/>
          <p:cNvSpPr/>
          <p:nvPr/>
        </p:nvSpPr>
        <p:spPr>
          <a:xfrm>
            <a:off x="457200" y="4681728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 Solution: Build an ML model to predict Indian house prices accurately and instantly from property details.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3D2E"/>
          </a:solidFill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60520" cy="1051560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417320"/>
            <a:ext cx="502920" cy="502920"/>
          </a:xfrm>
          <a:prstGeom prst="ellipse">
            <a:avLst/>
          </a:prstGeom>
          <a:solidFill>
            <a:srgbClr val="0B3D2E"/>
          </a:solidFill>
        </p:spPr>
      </p:sp>
      <p:sp>
        <p:nvSpPr>
          <p:cNvPr id="6" name="Text 4"/>
          <p:cNvSpPr/>
          <p:nvPr/>
        </p:nvSpPr>
        <p:spPr>
          <a:xfrm>
            <a:off x="384048" y="14173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87552" y="1298448"/>
            <a:ext cx="33375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3D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 and preprocess a 1,200-record Indian housing dataset across 10 major cities.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160520" cy="1051560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64608" y="1417320"/>
            <a:ext cx="502920" cy="502920"/>
          </a:xfrm>
          <a:prstGeom prst="ellipse">
            <a:avLst/>
          </a:prstGeom>
          <a:solidFill>
            <a:srgbClr val="0B3D2E"/>
          </a:solidFill>
        </p:spPr>
      </p:sp>
      <p:sp>
        <p:nvSpPr>
          <p:cNvPr id="10" name="Text 8"/>
          <p:cNvSpPr/>
          <p:nvPr/>
        </p:nvSpPr>
        <p:spPr>
          <a:xfrm>
            <a:off x="4864608" y="14173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68112" y="1298448"/>
            <a:ext cx="33375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3D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 comprehensive EDA to uncover city-wise and locality-wise pricing patterns.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423160"/>
            <a:ext cx="4160520" cy="1051560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2651760"/>
            <a:ext cx="502920" cy="502920"/>
          </a:xfrm>
          <a:prstGeom prst="ellipse">
            <a:avLst/>
          </a:prstGeom>
          <a:solidFill>
            <a:srgbClr val="0B3D2E"/>
          </a:solidFill>
        </p:spPr>
      </p:sp>
      <p:sp>
        <p:nvSpPr>
          <p:cNvPr id="14" name="Text 12"/>
          <p:cNvSpPr/>
          <p:nvPr/>
        </p:nvSpPr>
        <p:spPr>
          <a:xfrm>
            <a:off x="384048" y="2651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87552" y="2532888"/>
            <a:ext cx="33375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3D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 new features (Amenity Score, Total Rooms, Is New) for better accuracy.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4160520" cy="1051560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64608" y="2651760"/>
            <a:ext cx="502920" cy="502920"/>
          </a:xfrm>
          <a:prstGeom prst="ellipse">
            <a:avLst/>
          </a:prstGeom>
          <a:solidFill>
            <a:srgbClr val="0B3D2E"/>
          </a:solidFill>
        </p:spPr>
      </p:sp>
      <p:sp>
        <p:nvSpPr>
          <p:cNvPr id="18" name="Text 16"/>
          <p:cNvSpPr/>
          <p:nvPr/>
        </p:nvSpPr>
        <p:spPr>
          <a:xfrm>
            <a:off x="4864608" y="2651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68112" y="2532888"/>
            <a:ext cx="33375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3D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and compare three regression models: Linear Regression, Random Forest, Gradient Boosting.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657600"/>
            <a:ext cx="4160520" cy="1051560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3886200"/>
            <a:ext cx="502920" cy="502920"/>
          </a:xfrm>
          <a:prstGeom prst="ellipse">
            <a:avLst/>
          </a:prstGeom>
          <a:solidFill>
            <a:srgbClr val="0B3D2E"/>
          </a:solidFill>
        </p:spPr>
      </p:sp>
      <p:sp>
        <p:nvSpPr>
          <p:cNvPr id="22" name="Text 20"/>
          <p:cNvSpPr/>
          <p:nvPr/>
        </p:nvSpPr>
        <p:spPr>
          <a:xfrm>
            <a:off x="384048" y="3886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87552" y="3767328"/>
            <a:ext cx="33375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3D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Evaluate models using MAE, RMSE, R² Score and select the best deployable model.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657600"/>
            <a:ext cx="4160520" cy="1051560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64608" y="3886200"/>
            <a:ext cx="502920" cy="502920"/>
          </a:xfrm>
          <a:prstGeom prst="ellipse">
            <a:avLst/>
          </a:prstGeom>
          <a:solidFill>
            <a:srgbClr val="0B3D2E"/>
          </a:solidFill>
        </p:spPr>
      </p:sp>
      <p:sp>
        <p:nvSpPr>
          <p:cNvPr id="26" name="Text 24"/>
          <p:cNvSpPr/>
          <p:nvPr/>
        </p:nvSpPr>
        <p:spPr>
          <a:xfrm>
            <a:off x="4864608" y="3886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68112" y="3767328"/>
            <a:ext cx="33375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3D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 the model as a live, interactive web application using Streamlit.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3D2E"/>
          </a:solidFill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Dataset Description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0B3D2E"/>
          </a:solidFill>
        </p:spPr>
      </p:sp>
      <p:sp>
        <p:nvSpPr>
          <p:cNvPr id="5" name="Text 3"/>
          <p:cNvSpPr/>
          <p:nvPr/>
        </p:nvSpPr>
        <p:spPr>
          <a:xfrm>
            <a:off x="365760" y="1143000"/>
            <a:ext cx="1920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1,200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627632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EB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09728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0B3D2E"/>
          </a:solidFill>
        </p:spPr>
      </p:sp>
      <p:sp>
        <p:nvSpPr>
          <p:cNvPr id="8" name="Text 6"/>
          <p:cNvSpPr/>
          <p:nvPr/>
        </p:nvSpPr>
        <p:spPr>
          <a:xfrm>
            <a:off x="2468880" y="1143000"/>
            <a:ext cx="1920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468880" y="1627632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EB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09728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0B3D2E"/>
          </a:solidFill>
        </p:spPr>
      </p:sp>
      <p:sp>
        <p:nvSpPr>
          <p:cNvPr id="11" name="Text 9"/>
          <p:cNvSpPr/>
          <p:nvPr/>
        </p:nvSpPr>
        <p:spPr>
          <a:xfrm>
            <a:off x="4572000" y="1143000"/>
            <a:ext cx="1920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1627632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EB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Indian Cities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109728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0B3D2E"/>
          </a:solidFill>
        </p:spPr>
      </p:sp>
      <p:sp>
        <p:nvSpPr>
          <p:cNvPr id="14" name="Text 12"/>
          <p:cNvSpPr/>
          <p:nvPr/>
        </p:nvSpPr>
        <p:spPr>
          <a:xfrm>
            <a:off x="6675120" y="1143000"/>
            <a:ext cx="1920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₹8L–₹4.2Cr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75120" y="1627632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EB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Price Range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274320" y="2148840"/>
          <a:ext cx="8595360" cy="288036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5303520"/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Feature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Type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Description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City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Categorical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Mumbai, Delhi NCR, Bangalore, Pune, Hyderabad, etc. (10 cities)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Locality_Type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Categorical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Prime/CBD, Premium Residential, Mid-tier, Developing Suburb, Outskirts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Area_sqft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Numerical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Built-up area in square feet (400–3500)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BHK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Integer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Number of bedrooms (1–5 BHK)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Age_years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Integer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Property age in years (0–40)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Floor_No, Parking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Integer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Floor number and car parking slots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Furnishing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Categorical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Unfurnished, Semi-Furnished, Fully-Furnished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Price_INR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Numerical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Target: Sale price in Indian Rupees (₹)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3D2E"/>
          </a:solidFill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ML Lifecycle 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0B3D2E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52728"/>
            <a:ext cx="1920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1737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114300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14532B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252728"/>
            <a:ext cx="1920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14600" y="1600200"/>
            <a:ext cx="1737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14300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1B6B45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252728"/>
            <a:ext cx="1920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1600200"/>
            <a:ext cx="1737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0840" y="114300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0369A1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252728"/>
            <a:ext cx="1920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12280" y="1600200"/>
            <a:ext cx="1737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06324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10B981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3172968"/>
            <a:ext cx="1920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3520440"/>
            <a:ext cx="1737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23160" y="306324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D97706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423160" y="3172968"/>
            <a:ext cx="1920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514600" y="3520440"/>
            <a:ext cx="1737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306324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EA580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0" y="3172968"/>
            <a:ext cx="1920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63440" y="3520440"/>
            <a:ext cx="1737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20840" y="306324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BE123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20840" y="3172968"/>
            <a:ext cx="1920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12280" y="3520440"/>
            <a:ext cx="1737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3D2E"/>
          </a:solidFill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Preprocessing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97864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🔍 Missing Value Detection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72184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Age_years: 45 nulls (3.75%)  |  Bathrooms: 30 nulls (2.5%)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0" y="1252728"/>
            <a:ext cx="3200400" cy="420624"/>
          </a:xfrm>
          <a:prstGeom prst="roundRect">
            <a:avLst>
              <a:gd name="adj" fmla="val 13043"/>
            </a:avLst>
          </a:prstGeom>
          <a:solidFill>
            <a:srgbClr val="1B6B45"/>
          </a:solidFill>
        </p:spPr>
      </p:sp>
      <p:sp>
        <p:nvSpPr>
          <p:cNvPr id="8" name="Text 6"/>
          <p:cNvSpPr/>
          <p:nvPr/>
        </p:nvSpPr>
        <p:spPr>
          <a:xfrm>
            <a:off x="5577840" y="1252728"/>
            <a:ext cx="31089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Filled using median/mode imputation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892808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4767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📋 Duplicate Removal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221992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Scanned 1,200 rows for exact duplicates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0" y="2002536"/>
            <a:ext cx="3200400" cy="420624"/>
          </a:xfrm>
          <a:prstGeom prst="roundRect">
            <a:avLst>
              <a:gd name="adj" fmla="val 13043"/>
            </a:avLst>
          </a:prstGeom>
          <a:solidFill>
            <a:srgbClr val="1B6B45"/>
          </a:solidFill>
        </p:spPr>
      </p:sp>
      <p:sp>
        <p:nvSpPr>
          <p:cNvPr id="13" name="Text 11"/>
          <p:cNvSpPr/>
          <p:nvPr/>
        </p:nvSpPr>
        <p:spPr>
          <a:xfrm>
            <a:off x="5577840" y="2002536"/>
            <a:ext cx="31089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0 duplicates found — dataset clean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642616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9748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📦 Outlier Treatment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971800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IQR method: Q1 − 1.5×IQR to Q3 + 1.5×IQR on Price_INR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0" y="2752344"/>
            <a:ext cx="3200400" cy="420624"/>
          </a:xfrm>
          <a:prstGeom prst="roundRect">
            <a:avLst>
              <a:gd name="adj" fmla="val 13043"/>
            </a:avLst>
          </a:prstGeom>
          <a:solidFill>
            <a:srgbClr val="1B6B45"/>
          </a:solidFill>
        </p:spPr>
      </p:sp>
      <p:sp>
        <p:nvSpPr>
          <p:cNvPr id="18" name="Text 16"/>
          <p:cNvSpPr/>
          <p:nvPr/>
        </p:nvSpPr>
        <p:spPr>
          <a:xfrm>
            <a:off x="5577840" y="2752344"/>
            <a:ext cx="31089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Removed 34 extreme price outliers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392424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4728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🏷️ Categorical Encoding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721608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City, Locality_Type, Furnishing — string categories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0" y="3502152"/>
            <a:ext cx="3200400" cy="420624"/>
          </a:xfrm>
          <a:prstGeom prst="roundRect">
            <a:avLst>
              <a:gd name="adj" fmla="val 13043"/>
            </a:avLst>
          </a:prstGeom>
          <a:solidFill>
            <a:srgbClr val="1B6B45"/>
          </a:solidFill>
        </p:spPr>
      </p:sp>
      <p:sp>
        <p:nvSpPr>
          <p:cNvPr id="23" name="Text 21"/>
          <p:cNvSpPr/>
          <p:nvPr/>
        </p:nvSpPr>
        <p:spPr>
          <a:xfrm>
            <a:off x="5577840" y="3502152"/>
            <a:ext cx="31089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Label Encoded into integer codes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142232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19709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⚖️ Feature Scaling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471416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Features span vastly different ranges and units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0" y="4251960"/>
            <a:ext cx="3200400" cy="420624"/>
          </a:xfrm>
          <a:prstGeom prst="roundRect">
            <a:avLst>
              <a:gd name="adj" fmla="val 13043"/>
            </a:avLst>
          </a:prstGeom>
          <a:solidFill>
            <a:srgbClr val="1B6B45"/>
          </a:solidFill>
        </p:spPr>
      </p:sp>
      <p:sp>
        <p:nvSpPr>
          <p:cNvPr id="28" name="Text 26"/>
          <p:cNvSpPr/>
          <p:nvPr/>
        </p:nvSpPr>
        <p:spPr>
          <a:xfrm>
            <a:off x="5577840" y="4251960"/>
            <a:ext cx="31089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StandardScaler (zero mean, unit variance)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3D2E"/>
          </a:solidFill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Exploratory Data Analysis (EDA)</a:t>
            </a:r>
            <a:endParaRPr lang="en-US" sz="3000" dirty="0"/>
          </a:p>
        </p:txBody>
      </p:sp>
      <p:pic>
        <p:nvPicPr>
          <p:cNvPr id="4" name="Image 0" descr="/home/claude/FinalProject/Notebook/eda_bivaria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8595360" cy="2468880"/>
          </a:xfrm>
          <a:prstGeom prst="rect">
            <a:avLst/>
          </a:prstGeom>
        </p:spPr>
      </p:pic>
      <p:pic>
        <p:nvPicPr>
          <p:cNvPr id="5" name="Image 1" descr="/home/claude/FinalProject/Notebook/eda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3611880"/>
            <a:ext cx="3474720" cy="1417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5074920"/>
            <a:ext cx="8595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Insight: Mumbai commands the highest average price; Area_sqft shows the strongest correlation (r = 0.65) with price.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3D2E"/>
          </a:solidFill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EDA — Distribution &amp; Outlier Analysis</a:t>
            </a:r>
            <a:endParaRPr lang="en-US" sz="3000" dirty="0"/>
          </a:p>
        </p:txBody>
      </p:sp>
      <p:pic>
        <p:nvPicPr>
          <p:cNvPr id="4" name="Image 0" descr="/home/claude/FinalProject/Notebook/eda_univaria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3D2E"/>
          </a:solidFill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Machine Learning Models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2788920" cy="3840480"/>
          </a:xfrm>
          <a:prstGeom prst="roundRect">
            <a:avLst>
              <a:gd name="adj" fmla="val 3934"/>
            </a:avLst>
          </a:prstGeom>
          <a:solidFill>
            <a:srgbClr val="F1F5F9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97280"/>
            <a:ext cx="2788920" cy="731520"/>
          </a:xfrm>
          <a:prstGeom prst="roundRect">
            <a:avLst>
              <a:gd name="adj" fmla="val 15000"/>
            </a:avLst>
          </a:prstGeom>
          <a:solidFill>
            <a:srgbClr val="8B1538"/>
          </a:solidFill>
        </p:spPr>
      </p:sp>
      <p:sp>
        <p:nvSpPr>
          <p:cNvPr id="6" name="Text 4"/>
          <p:cNvSpPr/>
          <p:nvPr/>
        </p:nvSpPr>
        <p:spPr>
          <a:xfrm>
            <a:off x="320040" y="1170432"/>
            <a:ext cx="2606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📉  Linear Regression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1965960"/>
            <a:ext cx="1463040" cy="640080"/>
          </a:xfrm>
          <a:prstGeom prst="ellipse">
            <a:avLst/>
          </a:prstGeom>
          <a:solidFill>
            <a:srgbClr val="8B1538"/>
          </a:solidFill>
        </p:spPr>
      </p:sp>
      <p:sp>
        <p:nvSpPr>
          <p:cNvPr id="8" name="Text 6"/>
          <p:cNvSpPr/>
          <p:nvPr/>
        </p:nvSpPr>
        <p:spPr>
          <a:xfrm>
            <a:off x="868680" y="196596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R² = 0.48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✓ Pros: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999232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3D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Simple &amp; interpretable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246120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3D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Fast training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493008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3D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Good baseline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76732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E12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✗ Cons: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4023360"/>
            <a:ext cx="24688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Assumes linearity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4251960"/>
            <a:ext cx="24688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Underfits complex patterns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72968" y="1097280"/>
            <a:ext cx="2788920" cy="3840480"/>
          </a:xfrm>
          <a:prstGeom prst="roundRect">
            <a:avLst>
              <a:gd name="adj" fmla="val 3934"/>
            </a:avLst>
          </a:prstGeom>
          <a:solidFill>
            <a:srgbClr val="F1F5F9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72968" y="1097280"/>
            <a:ext cx="2788920" cy="731520"/>
          </a:xfrm>
          <a:prstGeom prst="roundRect">
            <a:avLst>
              <a:gd name="adj" fmla="val 15000"/>
            </a:avLst>
          </a:prstGeom>
          <a:solidFill>
            <a:srgbClr val="0369A1"/>
          </a:solidFill>
        </p:spPr>
      </p:sp>
      <p:sp>
        <p:nvSpPr>
          <p:cNvPr id="18" name="Text 16"/>
          <p:cNvSpPr/>
          <p:nvPr/>
        </p:nvSpPr>
        <p:spPr>
          <a:xfrm>
            <a:off x="3264408" y="1170432"/>
            <a:ext cx="2606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🌳  Random Forest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813048" y="1965960"/>
            <a:ext cx="1463040" cy="640080"/>
          </a:xfrm>
          <a:prstGeom prst="ellipse">
            <a:avLst/>
          </a:prstGeom>
          <a:solidFill>
            <a:srgbClr val="0369A1"/>
          </a:solidFill>
        </p:spPr>
      </p:sp>
      <p:sp>
        <p:nvSpPr>
          <p:cNvPr id="20" name="Text 18"/>
          <p:cNvSpPr/>
          <p:nvPr/>
        </p:nvSpPr>
        <p:spPr>
          <a:xfrm>
            <a:off x="3813048" y="196596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R² = 0.867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10128" y="274320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✓ Pros: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55848" y="2999232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3D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Handles non-linearity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55848" y="3246120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3D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Robust to outliers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55848" y="3493008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3D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Portable .pkl format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10128" y="376732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E12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✗ Cons: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55848" y="4023360"/>
            <a:ext cx="24688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Slightly lower than GBM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55848" y="4251960"/>
            <a:ext cx="24688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Less interpretable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17336" y="1097280"/>
            <a:ext cx="2788920" cy="3840480"/>
          </a:xfrm>
          <a:prstGeom prst="roundRect">
            <a:avLst>
              <a:gd name="adj" fmla="val 3934"/>
            </a:avLst>
          </a:prstGeom>
          <a:solidFill>
            <a:srgbClr val="F1F5F9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17336" y="1097280"/>
            <a:ext cx="2788920" cy="731520"/>
          </a:xfrm>
          <a:prstGeom prst="roundRect">
            <a:avLst>
              <a:gd name="adj" fmla="val 15000"/>
            </a:avLst>
          </a:prstGeom>
          <a:solidFill>
            <a:srgbClr val="1B6B45"/>
          </a:solidFill>
        </p:spPr>
      </p:sp>
      <p:sp>
        <p:nvSpPr>
          <p:cNvPr id="30" name="Text 28"/>
          <p:cNvSpPr/>
          <p:nvPr/>
        </p:nvSpPr>
        <p:spPr>
          <a:xfrm>
            <a:off x="6208776" y="1170432"/>
            <a:ext cx="2606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🚀  Gradient Boosting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757416" y="1965960"/>
            <a:ext cx="1463040" cy="640080"/>
          </a:xfrm>
          <a:prstGeom prst="ellipse">
            <a:avLst/>
          </a:prstGeom>
          <a:solidFill>
            <a:srgbClr val="1B6B45"/>
          </a:solidFill>
        </p:spPr>
      </p:sp>
      <p:sp>
        <p:nvSpPr>
          <p:cNvPr id="32" name="Text 30"/>
          <p:cNvSpPr/>
          <p:nvPr/>
        </p:nvSpPr>
        <p:spPr>
          <a:xfrm>
            <a:off x="6757416" y="196596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R² = 0.934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54496" y="274320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✓ Pros: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0216" y="2999232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3D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Highest accuracy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00216" y="3246120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3D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Captures complex patterns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00216" y="3493008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3D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Built-in regularization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54496" y="376732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E12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✗ Cons: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00216" y="4023360"/>
            <a:ext cx="24688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Needs tuning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00216" y="4251960"/>
            <a:ext cx="24688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Version-sensitive serialization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0" y="868680"/>
            <a:ext cx="2788920" cy="237744"/>
          </a:xfrm>
          <a:prstGeom prst="roundRect">
            <a:avLst>
              <a:gd name="adj" fmla="val 23077"/>
            </a:avLst>
          </a:prstGeom>
          <a:solidFill>
            <a:srgbClr val="D97706"/>
          </a:solidFill>
        </p:spPr>
      </p:sp>
      <p:sp>
        <p:nvSpPr>
          <p:cNvPr id="41" name="Text 39"/>
          <p:cNvSpPr/>
          <p:nvPr/>
        </p:nvSpPr>
        <p:spPr>
          <a:xfrm>
            <a:off x="3200400" y="868680"/>
            <a:ext cx="2788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D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⭐  DEPLOYED MODEL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3D2E"/>
          </a:solidFill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Results &amp; Performance Metrics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274320" y="1097280"/>
          <a:ext cx="8595360" cy="173736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  <a:gridCol w="1737360"/>
                <a:gridCol w="1371600"/>
                <a:gridCol w="1371600"/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Model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MAE (₹)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RMSE (₹)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R² Score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CV R²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Linear Regression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E123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57,49,728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E123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72,80,776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E123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0.4796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0.4666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Random Forest ⭐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369A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27,53,281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369A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36,85,209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369A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0.8667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369A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0.8798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Gradient Boosting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18,07,460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25,92,931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0.9340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0.9329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/home/claude/FinalProject/Notebook/model_comparis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971800"/>
            <a:ext cx="859536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3D2E"/>
          </a:solidFill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Feature Importance &amp; Prediction Quality</a:t>
            </a:r>
            <a:endParaRPr lang="en-US" sz="3000" dirty="0"/>
          </a:p>
        </p:txBody>
      </p:sp>
      <p:pic>
        <p:nvPicPr>
          <p:cNvPr id="4" name="Image 0" descr="/home/claude/FinalProject/Notebook/feature_importan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43000"/>
            <a:ext cx="4114800" cy="3931920"/>
          </a:xfrm>
          <a:prstGeom prst="rect">
            <a:avLst/>
          </a:prstGeom>
        </p:spPr>
      </p:pic>
      <p:pic>
        <p:nvPicPr>
          <p:cNvPr id="5" name="Image 1" descr="/home/claude/FinalProject/Notebook/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463040"/>
            <a:ext cx="4297680" cy="32461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512064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Area_sqft and City dominate price prediction, consistent with real Indian real-estate intuition.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3D2E"/>
          </a:solidFill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Application Demo — Streamlit App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3931920"/>
          </a:xfrm>
          <a:prstGeom prst="roundRect">
            <a:avLst>
              <a:gd name="adj" fmla="val 3488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8595360" cy="365760"/>
          </a:xfrm>
          <a:prstGeom prst="roundRect">
            <a:avLst>
              <a:gd name="adj" fmla="val 37500"/>
            </a:avLst>
          </a:prstGeom>
          <a:solidFill>
            <a:srgbClr val="E2E8F0"/>
          </a:solidFill>
        </p:spPr>
      </p:sp>
      <p:sp>
        <p:nvSpPr>
          <p:cNvPr id="6" name="Shape 4"/>
          <p:cNvSpPr/>
          <p:nvPr/>
        </p:nvSpPr>
        <p:spPr>
          <a:xfrm>
            <a:off x="457200" y="1170432"/>
            <a:ext cx="146304" cy="146304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7" name="Shape 5"/>
          <p:cNvSpPr/>
          <p:nvPr/>
        </p:nvSpPr>
        <p:spPr>
          <a:xfrm>
            <a:off x="685800" y="1170432"/>
            <a:ext cx="146304" cy="146304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8" name="Shape 6"/>
          <p:cNvSpPr/>
          <p:nvPr/>
        </p:nvSpPr>
        <p:spPr>
          <a:xfrm>
            <a:off x="914400" y="1170432"/>
            <a:ext cx="146304" cy="14630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1371600" y="1143000"/>
            <a:ext cx="6400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🔒  localhost:8501  —  HOUSE PREDICTION MODEL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463040"/>
            <a:ext cx="8595360" cy="502920"/>
          </a:xfrm>
          <a:prstGeom prst="rect">
            <a:avLst/>
          </a:prstGeom>
          <a:solidFill>
            <a:srgbClr val="0B3D2E"/>
          </a:solidFill>
        </p:spPr>
      </p:sp>
      <p:sp>
        <p:nvSpPr>
          <p:cNvPr id="11" name="Text 9"/>
          <p:cNvSpPr/>
          <p:nvPr/>
        </p:nvSpPr>
        <p:spPr>
          <a:xfrm>
            <a:off x="457200" y="150876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🏠  HOUSE PREDICTION MODEL — Real-time property valuation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2057400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3D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26771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2286000"/>
            <a:ext cx="131673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3D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Mumbai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75688" y="2057400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3D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BHK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75688" y="226771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48840" y="2286000"/>
            <a:ext cx="131673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3D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39896" y="2057400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3D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Area (sqft)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39896" y="226771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13048" y="2286000"/>
            <a:ext cx="131673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3D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1,450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04104" y="2057400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3D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Floor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04104" y="226771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77256" y="2286000"/>
            <a:ext cx="131673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3D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68312" y="2057400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3D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Furnishing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068312" y="226771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41464" y="2286000"/>
            <a:ext cx="131673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3D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017520" y="2670048"/>
            <a:ext cx="3108960" cy="365760"/>
          </a:xfrm>
          <a:prstGeom prst="roundRect">
            <a:avLst>
              <a:gd name="adj" fmla="val 25000"/>
            </a:avLst>
          </a:prstGeom>
          <a:solidFill>
            <a:srgbClr val="1B6B45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017520" y="267004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🔮  Predict Price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828800" y="3154680"/>
            <a:ext cx="5486400" cy="1554480"/>
          </a:xfrm>
          <a:prstGeom prst="roundRect">
            <a:avLst>
              <a:gd name="adj" fmla="val 7059"/>
            </a:avLst>
          </a:prstGeom>
          <a:solidFill>
            <a:srgbClr val="0B3D2E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828800" y="32461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EB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Estimated Market Value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828800" y="3493008"/>
            <a:ext cx="54864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₹ 1.84 Cr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1828800" y="406908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FEB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 1,84,32,150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828800" y="4370832"/>
            <a:ext cx="5486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FEB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Model: Random Forest  |  R² Score: 0.867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5120640"/>
            <a:ext cx="8595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Run: python -m streamlit run Streamlit_App/app.py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3D2E"/>
          </a:solidFill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307592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12344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Successfully Built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527048"/>
            <a:ext cx="7680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 ML pipeline from raw Indian housing data to a deployed web application, covering all 8 lifecycle phases.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057400"/>
            <a:ext cx="8595360" cy="777240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221992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21488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Strong Accuracy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441448"/>
            <a:ext cx="7680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Forest (deployed) achieved R² = 0.867; Gradient Boosting reached R² = 0.934 in evaluation.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8595360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3136392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5840" y="30632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Insights Uncovered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355848"/>
            <a:ext cx="7680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City tier, locality type, and area are the strongest drivers of Indian residential property prices.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886200"/>
            <a:ext cx="8595360" cy="777240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4050792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39776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Deployed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4270248"/>
            <a:ext cx="7680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Interactive Streamlit app lets users enter property specs across 10 Indian cities and get instant ₹ valuations.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B6B45">
              <a:alpha val="2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Future Scope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FEB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this project can grow next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697480" cy="1600200"/>
          </a:xfrm>
          <a:prstGeom prst="roundRect">
            <a:avLst>
              <a:gd name="adj" fmla="val 6857"/>
            </a:avLst>
          </a:prstGeom>
          <a:solidFill>
            <a:srgbClr val="163E2E"/>
          </a:solidFill>
          <a:ln w="12700">
            <a:solidFill>
              <a:srgbClr val="1B6B4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27048"/>
            <a:ext cx="2514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🗺️  Real RERA/Listing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2514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6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 live data from 99acres, MagicBricks, or RERA portals for authentic pricing.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82112" y="1417320"/>
            <a:ext cx="2697480" cy="1600200"/>
          </a:xfrm>
          <a:prstGeom prst="roundRect">
            <a:avLst>
              <a:gd name="adj" fmla="val 6857"/>
            </a:avLst>
          </a:prstGeom>
          <a:solidFill>
            <a:srgbClr val="163E2E"/>
          </a:solidFill>
          <a:ln w="12700">
            <a:solidFill>
              <a:srgbClr val="1B6B4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73552" y="1527048"/>
            <a:ext cx="2514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🤖  Deep Learning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73552" y="1920240"/>
            <a:ext cx="2514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6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Try neural networks to capture complex non-linear pricing patterns.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89904" y="1417320"/>
            <a:ext cx="2697480" cy="1600200"/>
          </a:xfrm>
          <a:prstGeom prst="roundRect">
            <a:avLst>
              <a:gd name="adj" fmla="val 6857"/>
            </a:avLst>
          </a:prstGeom>
          <a:solidFill>
            <a:srgbClr val="163E2E"/>
          </a:solidFill>
          <a:ln w="12700">
            <a:solidFill>
              <a:srgbClr val="1B6B4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81344" y="1527048"/>
            <a:ext cx="2514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📡  Live Market Feed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81344" y="1920240"/>
            <a:ext cx="2514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6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 to real-time property APIs for up-to-date predictions.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246120"/>
            <a:ext cx="2697480" cy="1600200"/>
          </a:xfrm>
          <a:prstGeom prst="roundRect">
            <a:avLst>
              <a:gd name="adj" fmla="val 6857"/>
            </a:avLst>
          </a:prstGeom>
          <a:solidFill>
            <a:srgbClr val="163E2E"/>
          </a:solidFill>
          <a:ln w="12700">
            <a:solidFill>
              <a:srgbClr val="1B6B4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3355848"/>
            <a:ext cx="2514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📸  Image Analysis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749040"/>
            <a:ext cx="2514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6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CNNs to analyze property photos for visual quality scoring.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82112" y="3246120"/>
            <a:ext cx="2697480" cy="1600200"/>
          </a:xfrm>
          <a:prstGeom prst="roundRect">
            <a:avLst>
              <a:gd name="adj" fmla="val 6857"/>
            </a:avLst>
          </a:prstGeom>
          <a:solidFill>
            <a:srgbClr val="163E2E"/>
          </a:solidFill>
          <a:ln w="12700">
            <a:solidFill>
              <a:srgbClr val="1B6B4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73552" y="3355848"/>
            <a:ext cx="2514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☁️  Cloud Deployment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73552" y="3749040"/>
            <a:ext cx="2514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6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 on AWS/GCP/Azure with Docker for scalable serving.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89904" y="3246120"/>
            <a:ext cx="2697480" cy="1600200"/>
          </a:xfrm>
          <a:prstGeom prst="roundRect">
            <a:avLst>
              <a:gd name="adj" fmla="val 6857"/>
            </a:avLst>
          </a:prstGeom>
          <a:solidFill>
            <a:srgbClr val="163E2E"/>
          </a:solidFill>
          <a:ln w="12700">
            <a:solidFill>
              <a:srgbClr val="1B6B4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81344" y="3355848"/>
            <a:ext cx="2514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📊  MLOps Pipeline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81344" y="3749040"/>
            <a:ext cx="2514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6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retraining and model monitoring on fresh data.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5005</Words>
  <Application>WPS Presentation</Application>
  <PresentationFormat>On-screen Show (16:9)</PresentationFormat>
  <Paragraphs>406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 PREDICTION MODEL</dc:title>
  <dc:creator>ML Project Team</dc:creator>
  <dc:subject>PptxGenJS Presentation</dc:subject>
  <cp:lastModifiedBy>vaibhav kesharwani</cp:lastModifiedBy>
  <cp:revision>2</cp:revision>
  <dcterms:created xsi:type="dcterms:W3CDTF">2026-06-20T09:39:00Z</dcterms:created>
  <dcterms:modified xsi:type="dcterms:W3CDTF">2026-06-20T22:04:51Z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9F5637222E464CDCA9F936770798EAF5_12</vt:lpwstr>
  </property>
  <property fmtid="{D5CDD505-2E9C-101B-9397-08002B2CF9AE}" pid="3" name="KSOProductBuildVer">
    <vt:lpwstr>1033-12.1.0.26880</vt:lpwstr>
  </property>
</Properties>
</file>